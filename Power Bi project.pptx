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0" r:id="rId3"/>
    <p:sldId id="261" r:id="rId4"/>
    <p:sldId id="262" r:id="rId5"/>
    <p:sldId id="263" r:id="rId6"/>
    <p:sldId id="269" r:id="rId7"/>
    <p:sldId id="266" r:id="rId8"/>
    <p:sldId id="267" r:id="rId9"/>
    <p:sldId id="268" r:id="rId10"/>
    <p:sldId id="259" r:id="rId11"/>
  </p:sldIdLst>
  <p:sldSz cx="12192000" cy="6858000"/>
  <p:notesSz cx="6858000" cy="9144000"/>
  <p:embeddedFontLst>
    <p:embeddedFont>
      <p:font typeface="Bodoni MT" pitchFamily="18" charset="0"/>
      <p:regular r:id="rId13"/>
      <p:bold r:id="rId14"/>
      <p:italic r:id="rId15"/>
      <p:boldItalic r:id="rId16"/>
    </p:embeddedFont>
    <p:embeddedFont>
      <p:font typeface="Libre Baskerville" charset="0"/>
      <p:regular r:id="rId17"/>
      <p:bold r:id="rId18"/>
      <p:italic r:id="rId19"/>
    </p:embeddedFont>
    <p:embeddedFont>
      <p:font typeface="Bebas Neue Cyrillic" charset="0"/>
      <p:regular r:id="rId20"/>
    </p:embeddedFont>
    <p:embeddedFont>
      <p:font typeface="Calibri" pitchFamily="34" charset="0"/>
      <p:regular r:id="rId21"/>
      <p:bold r:id="rId22"/>
      <p:italic r:id="rId23"/>
      <p:boldItalic r:id="rId24"/>
    </p:embeddedFont>
    <p:embeddedFont>
      <p:font typeface="Canva Sans" charset="0"/>
      <p:regular r:id="rId25"/>
    </p:embeddedFont>
    <p:embeddedFont>
      <p:font typeface="Canva Sans Bold" charset="0"/>
      <p:regular r:id="rId26"/>
    </p:embeddedFont>
    <p:embeddedFont>
      <p:font typeface="Corbel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3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31894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1028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powerbi.com/groups/me/reports/19ecf61d-5ef4-4225-bf20-afac281f497c/a80a4e710dc0179ab7b9?experience=power-bi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132" y="11502"/>
            <a:ext cx="12190815" cy="68464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471248"/>
            <a:ext cx="7246189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4400" b="1" dirty="0">
                <a:solidFill>
                  <a:srgbClr val="FF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T</a:t>
            </a:r>
            <a:r>
              <a:rPr lang="en-IN" sz="4400" b="1" dirty="0" smtClean="0">
                <a:solidFill>
                  <a:schemeClr val="dk1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elecom </a:t>
            </a:r>
            <a:r>
              <a:rPr lang="en-IN" sz="4400" b="1" dirty="0" smtClean="0">
                <a:solidFill>
                  <a:srgbClr val="FF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C</a:t>
            </a:r>
            <a:r>
              <a:rPr lang="en-IN" sz="4400" b="1" dirty="0" smtClean="0">
                <a:solidFill>
                  <a:schemeClr val="dk1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ustomers </a:t>
            </a:r>
            <a:r>
              <a:rPr lang="en-IN" sz="4400" b="1" dirty="0">
                <a:solidFill>
                  <a:srgbClr val="FF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C</a:t>
            </a:r>
            <a:r>
              <a:rPr lang="en-IN" sz="4400" b="1" dirty="0" smtClean="0">
                <a:solidFill>
                  <a:schemeClr val="dk1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hurn </a:t>
            </a:r>
            <a:r>
              <a:rPr lang="en-IN" sz="4400" b="1" dirty="0" smtClean="0">
                <a:solidFill>
                  <a:srgbClr val="FF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A</a:t>
            </a:r>
            <a:r>
              <a:rPr lang="en-IN" sz="4400" b="1" dirty="0" smtClean="0">
                <a:solidFill>
                  <a:schemeClr val="dk1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nalysis</a:t>
            </a:r>
            <a:endParaRPr lang="en-IN" sz="4400" b="1" dirty="0">
              <a:solidFill>
                <a:schemeClr val="dk1"/>
              </a:solidFill>
              <a:latin typeface="Bodoni MT" panose="02070603080606020203" pitchFamily="18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86001" y="5549866"/>
            <a:ext cx="743309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By</a:t>
            </a:r>
          </a:p>
          <a:p>
            <a:pPr algn="ctr"/>
            <a:endParaRPr lang="en-US" dirty="0"/>
          </a:p>
          <a:p>
            <a:pPr lvl="0" algn="ctr"/>
            <a:r>
              <a:rPr lang="en-US" dirty="0"/>
              <a:t> </a:t>
            </a:r>
            <a:r>
              <a:rPr lang="en-US" sz="1600" b="1" dirty="0" err="1"/>
              <a:t>Sanskruti</a:t>
            </a:r>
            <a:r>
              <a:rPr lang="en-US" sz="1600" b="1" dirty="0"/>
              <a:t>  </a:t>
            </a:r>
            <a:r>
              <a:rPr lang="en-US" sz="1600" b="1" dirty="0" err="1"/>
              <a:t>Patil</a:t>
            </a:r>
            <a:r>
              <a:rPr lang="en-US" sz="1600" b="1" dirty="0"/>
              <a:t>  and  </a:t>
            </a:r>
            <a:r>
              <a:rPr lang="en-US" sz="1600" b="1" dirty="0" err="1"/>
              <a:t>Jidnyasa</a:t>
            </a:r>
            <a:r>
              <a:rPr lang="en-US" sz="1600" b="1" dirty="0"/>
              <a:t>  </a:t>
            </a:r>
            <a:r>
              <a:rPr lang="en-US" sz="1600" b="1" dirty="0" err="1"/>
              <a:t>Baviskar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0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  <a:endParaRPr lang="en-US" sz="4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5418" y="62858"/>
            <a:ext cx="8686800" cy="990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7010"/>
              </a:lnSpc>
            </a:pPr>
            <a:r>
              <a:rPr lang="en-US" sz="3600" b="1" dirty="0" smtClean="0">
                <a:solidFill>
                  <a:srgbClr val="FF0000"/>
                </a:solidFill>
                <a:latin typeface="Calibri" pitchFamily="34" charset="0"/>
                <a:ea typeface="Bebas Neue Cyrillic"/>
                <a:cs typeface="Calibri" pitchFamily="34" charset="0"/>
                <a:sym typeface="Bebas Neue Cyrillic"/>
              </a:rPr>
              <a:t>Approach To Prove The Business Objective :</a:t>
            </a:r>
            <a:endParaRPr lang="en-US" sz="3600" b="1" dirty="0">
              <a:solidFill>
                <a:srgbClr val="FF0000"/>
              </a:solidFill>
              <a:latin typeface="Calibri" pitchFamily="34" charset="0"/>
              <a:ea typeface="Bebas Neue Cyrillic"/>
              <a:cs typeface="Calibri" pitchFamily="34" charset="0"/>
              <a:sym typeface="Bebas Neue Cyrill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8600" y="1052873"/>
            <a:ext cx="10134600" cy="836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3549" lvl="1" indent="-226774">
              <a:lnSpc>
                <a:spcPts val="2941"/>
              </a:lnSpc>
              <a:buFont typeface="Arial"/>
              <a:buChar char="•"/>
            </a:pPr>
            <a:r>
              <a:rPr lang="en-US" sz="1600" b="1" dirty="0">
                <a:solidFill>
                  <a:srgbClr val="FF3131"/>
                </a:solidFill>
                <a:latin typeface="Canva Sans" charset="0"/>
                <a:ea typeface="Canva Sans Bold"/>
                <a:cs typeface="Canva Sans Bold"/>
                <a:sym typeface="Canva Sans Bold"/>
              </a:rPr>
              <a:t>Identify churn patterns</a:t>
            </a:r>
            <a:r>
              <a:rPr lang="en-US" sz="1600" dirty="0">
                <a:solidFill>
                  <a:srgbClr val="FF3131"/>
                </a:solidFill>
                <a:latin typeface="Canva Sans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1600" dirty="0">
                <a:solidFill>
                  <a:srgbClr val="020202"/>
                </a:solidFill>
                <a:latin typeface="Canva Sans" charset="0"/>
                <a:ea typeface="Canva Sans"/>
                <a:cs typeface="Canva Sans"/>
                <a:sym typeface="Canva Sans"/>
              </a:rPr>
              <a:t>among different </a:t>
            </a:r>
            <a:r>
              <a:rPr lang="en-US" sz="1600" dirty="0" smtClean="0">
                <a:solidFill>
                  <a:srgbClr val="020202"/>
                </a:solidFill>
                <a:latin typeface="Canva Sans" charset="0"/>
                <a:ea typeface="Canva Sans"/>
                <a:cs typeface="Canva Sans"/>
                <a:sym typeface="Canva Sans"/>
              </a:rPr>
              <a:t>customer segments </a:t>
            </a:r>
            <a:r>
              <a:rPr lang="en-US" sz="1600" dirty="0">
                <a:solidFill>
                  <a:srgbClr val="020202"/>
                </a:solidFill>
                <a:latin typeface="Canva Sans" charset="0"/>
                <a:ea typeface="Canva Sans"/>
                <a:cs typeface="Canva Sans"/>
                <a:sym typeface="Canva Sans"/>
              </a:rPr>
              <a:t>such as gender, </a:t>
            </a:r>
            <a:r>
              <a:rPr lang="en-US" sz="1600" dirty="0" smtClean="0">
                <a:solidFill>
                  <a:srgbClr val="020202"/>
                </a:solidFill>
                <a:latin typeface="Canva Sans" charset="0"/>
                <a:ea typeface="Canva Sans"/>
                <a:cs typeface="Canva Sans"/>
                <a:sym typeface="Canva Sans"/>
              </a:rPr>
              <a:t>senior citizens</a:t>
            </a:r>
            <a:r>
              <a:rPr lang="en-US" sz="1600" dirty="0">
                <a:solidFill>
                  <a:srgbClr val="020202"/>
                </a:solidFill>
                <a:latin typeface="Canva Sans" charset="0"/>
                <a:ea typeface="Canva Sans"/>
                <a:cs typeface="Canva Sans"/>
                <a:sym typeface="Canva Sans"/>
              </a:rPr>
              <a:t>, and contract types.</a:t>
            </a:r>
            <a:endParaRPr lang="en-US" sz="1600" dirty="0">
              <a:solidFill>
                <a:srgbClr val="020202"/>
              </a:solidFill>
              <a:latin typeface="Canva Sans" charset="0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8600" y="1888999"/>
            <a:ext cx="9448800" cy="836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9792" lvl="1" indent="-224896">
              <a:lnSpc>
                <a:spcPts val="2916"/>
              </a:lnSpc>
              <a:buFont typeface="Arial"/>
              <a:buChar char="•"/>
            </a:pPr>
            <a:r>
              <a:rPr lang="en-US" sz="1600" b="1" dirty="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Analyze relationships</a:t>
            </a:r>
            <a:r>
              <a:rPr lang="en-US" sz="1600" dirty="0">
                <a:solidFill>
                  <a:srgbClr val="020202"/>
                </a:solidFill>
                <a:latin typeface="Canva Sans"/>
                <a:ea typeface="Canva Sans"/>
                <a:cs typeface="Canva Sans"/>
                <a:sym typeface="Canva Sans"/>
              </a:rPr>
              <a:t> between churn and key factors like monthly charges, tenure, and internet service type.</a:t>
            </a:r>
            <a:endParaRPr lang="en-US" sz="1600" dirty="0">
              <a:solidFill>
                <a:srgbClr val="02020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7818" y="2739612"/>
            <a:ext cx="8382000" cy="464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9196" lvl="1" indent="-224598">
              <a:lnSpc>
                <a:spcPts val="2912"/>
              </a:lnSpc>
              <a:buFont typeface="Arial"/>
              <a:buChar char="•"/>
            </a:pPr>
            <a:r>
              <a:rPr lang="en-US" sz="1600" b="1" dirty="0">
                <a:solidFill>
                  <a:srgbClr val="FF3131"/>
                </a:solidFill>
                <a:latin typeface="Canva Sans" charset="0"/>
                <a:ea typeface="Canva Sans Bold"/>
                <a:cs typeface="Canva Sans Bold"/>
                <a:sym typeface="Canva Sans Bold"/>
              </a:rPr>
              <a:t>Compare churn behavior</a:t>
            </a:r>
            <a:r>
              <a:rPr lang="en-US" sz="1600" dirty="0">
                <a:latin typeface="Canva Sans" charset="0"/>
                <a:ea typeface="Canva Sans"/>
                <a:cs typeface="Canva Sans"/>
                <a:sym typeface="Canva Sans"/>
              </a:rPr>
              <a:t> across different services and payment methods.</a:t>
            </a:r>
            <a:endParaRPr lang="en-US" sz="1600" dirty="0">
              <a:latin typeface="Canva Sans" charset="0"/>
              <a:ea typeface="Canva Sans"/>
              <a:cs typeface="Canva Sans"/>
              <a:sym typeface="Canva San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8600" y="3429000"/>
            <a:ext cx="8991600" cy="489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1354" lvl="1" indent="-235677">
              <a:lnSpc>
                <a:spcPts val="3056"/>
              </a:lnSpc>
              <a:buFont typeface="Arial"/>
              <a:buChar char="•"/>
            </a:pPr>
            <a:r>
              <a:rPr lang="en-US" sz="1600" b="1" dirty="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Measure churn rate and its impact on revenue</a:t>
            </a:r>
            <a:r>
              <a:rPr lang="en-US" sz="16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600" dirty="0" smtClean="0">
                <a:latin typeface="Canva Sans"/>
                <a:ea typeface="Canva Sans"/>
                <a:cs typeface="Canva Sans"/>
                <a:sym typeface="Canva Sans"/>
              </a:rPr>
              <a:t>to understand </a:t>
            </a:r>
            <a:r>
              <a:rPr lang="en-US" sz="1600" dirty="0">
                <a:latin typeface="Canva Sans"/>
                <a:ea typeface="Canva Sans"/>
                <a:cs typeface="Canva Sans"/>
                <a:sym typeface="Canva Sans"/>
              </a:rPr>
              <a:t>financial implications.</a:t>
            </a:r>
            <a:endParaRPr lang="en-US" sz="1600" dirty="0"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07818" y="4114800"/>
            <a:ext cx="9240982" cy="836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3396" lvl="1" indent="-226698">
              <a:lnSpc>
                <a:spcPts val="2940"/>
              </a:lnSpc>
              <a:buFont typeface="Arial"/>
              <a:buChar char="•"/>
            </a:pPr>
            <a:r>
              <a:rPr lang="en-US" sz="1600" b="1" dirty="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Provide insights and recommendations</a:t>
            </a:r>
            <a:r>
              <a:rPr lang="en-US" sz="1600" dirty="0">
                <a:latin typeface="Canva Sans"/>
                <a:ea typeface="Canva Sans"/>
                <a:cs typeface="Canva Sans"/>
                <a:sym typeface="Canva Sans"/>
              </a:rPr>
              <a:t> that can help improve customer satisfaction and loyalty.</a:t>
            </a:r>
            <a:endParaRPr lang="en-US" sz="1600" dirty="0"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3616566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695414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Objective of the </a:t>
            </a:r>
            <a:r>
              <a:rPr lang="en-US" sz="4400" b="1" dirty="0">
                <a:solidFill>
                  <a:srgbClr val="FF0000"/>
                </a:solidFill>
              </a:rPr>
              <a:t>b</a:t>
            </a:r>
            <a:r>
              <a:rPr lang="en-US" sz="4400" b="1" dirty="0" smtClean="0">
                <a:solidFill>
                  <a:srgbClr val="FF0000"/>
                </a:solidFill>
              </a:rPr>
              <a:t>usiness</a:t>
            </a:r>
            <a:r>
              <a:rPr lang="en-US" sz="4400" b="1" dirty="0" smtClean="0"/>
              <a:t> </a:t>
            </a:r>
            <a:r>
              <a:rPr lang="en-IN" sz="4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: 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" y="1143000"/>
            <a:ext cx="73914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Measure overall and segment-level churn rate across customer cohorts.</a:t>
            </a:r>
          </a:p>
          <a:p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304800" y="1696998"/>
            <a:ext cx="7924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r>
              <a:rPr lang="en-US" sz="1600" dirty="0"/>
              <a:t>Enable data-driven decisions to reduce churn, increase retention, and recover lost revenue. 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" y="2569090"/>
            <a:ext cx="7772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charset="0"/>
                <a:cs typeface="Arial" charset="0"/>
              </a:rPr>
              <a:t>Quantify </a:t>
            </a:r>
            <a:r>
              <a:rPr lang="en-US" sz="1600" b="1" dirty="0">
                <a:solidFill>
                  <a:srgbClr val="FF0000"/>
                </a:solidFill>
                <a:latin typeface="Arial" charset="0"/>
                <a:cs typeface="Arial" charset="0"/>
              </a:rPr>
              <a:t>revenue at risk</a:t>
            </a:r>
            <a:r>
              <a:rPr lang="en-US" sz="160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Arial" charset="0"/>
                <a:cs typeface="Arial" charset="0"/>
              </a:rPr>
              <a:t>(lost revenue) from churned customers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.</a:t>
            </a:r>
            <a:endParaRPr lang="en-US" sz="16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9436" y="3242992"/>
            <a:ext cx="80772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r>
              <a:rPr lang="en-US" sz="1600" dirty="0"/>
              <a:t>Compare churn </a:t>
            </a:r>
            <a:r>
              <a:rPr lang="en-US" sz="1600" dirty="0" err="1"/>
              <a:t>behaviour</a:t>
            </a:r>
            <a:r>
              <a:rPr lang="en-US" sz="1600" dirty="0"/>
              <a:t> by </a:t>
            </a:r>
            <a:r>
              <a:rPr lang="en-US" sz="1600" b="1" dirty="0">
                <a:solidFill>
                  <a:srgbClr val="FF0000"/>
                </a:solidFill>
              </a:rPr>
              <a:t>contract type, payment method, gender</a:t>
            </a:r>
            <a:r>
              <a:rPr lang="en-US" sz="1600" b="1" dirty="0"/>
              <a:t>,</a:t>
            </a:r>
            <a:r>
              <a:rPr lang="en-US" sz="1600" dirty="0"/>
              <a:t> and </a:t>
            </a:r>
            <a:r>
              <a:rPr lang="en-US" sz="1600" b="1" dirty="0">
                <a:solidFill>
                  <a:srgbClr val="FF0000"/>
                </a:solidFill>
              </a:rPr>
              <a:t>internet service</a:t>
            </a:r>
            <a:r>
              <a:rPr lang="en-US" sz="1600" dirty="0">
                <a:solidFill>
                  <a:srgbClr val="FF0000"/>
                </a:solidFill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ClrTx/>
            </a:pPr>
            <a:endParaRPr lang="en-US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9436" y="4017559"/>
            <a:ext cx="789709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r>
              <a:rPr lang="en-US" dirty="0"/>
              <a:t>Track </a:t>
            </a:r>
            <a:r>
              <a:rPr lang="en-US" b="1" dirty="0">
                <a:solidFill>
                  <a:srgbClr val="FF0000"/>
                </a:solidFill>
              </a:rPr>
              <a:t>key KPIs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/>
              <a:t>Total Customers, Churn Rate, Total Revenue, Lost Revenue, Churned Customers.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endParaRPr lang="en-US" dirty="0" smtClean="0"/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r>
              <a:rPr lang="en-US" dirty="0" smtClean="0"/>
              <a:t>Provide </a:t>
            </a:r>
            <a:r>
              <a:rPr lang="en-US" dirty="0"/>
              <a:t>filters and slicers for interactive root-cause exploration by business users.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8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52400"/>
            <a:ext cx="309732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Key Visuals: 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027519"/>
            <a:ext cx="3000342" cy="2362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" y="3810000"/>
            <a:ext cx="3682262" cy="266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24200" y="1066800"/>
            <a:ext cx="8915400" cy="417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3396" lvl="1" indent="-226698">
              <a:lnSpc>
                <a:spcPts val="2940"/>
              </a:lnSpc>
              <a:buFont typeface="Arial"/>
              <a:buChar char="•"/>
            </a:pPr>
            <a:r>
              <a:rPr lang="en-US" sz="1600" dirty="0">
                <a:solidFill>
                  <a:srgbClr val="020202"/>
                </a:solidFill>
                <a:latin typeface="Canva Sans" charset="0"/>
                <a:ea typeface="Canva Sans"/>
                <a:cs typeface="Canva Sans"/>
                <a:sym typeface="Canva Sans"/>
              </a:rPr>
              <a:t>The chart shows an almost equal </a:t>
            </a:r>
            <a:r>
              <a:rPr lang="en-US" sz="1600" dirty="0" smtClean="0">
                <a:solidFill>
                  <a:srgbClr val="020202"/>
                </a:solidFill>
                <a:latin typeface="Canva Sans" charset="0"/>
                <a:ea typeface="Canva Sans"/>
                <a:cs typeface="Canva Sans"/>
                <a:sym typeface="Canva Sans"/>
              </a:rPr>
              <a:t>split </a:t>
            </a:r>
            <a:r>
              <a:rPr lang="en-US" sz="1600" dirty="0" smtClean="0">
                <a:solidFill>
                  <a:srgbClr val="E42328"/>
                </a:solidFill>
                <a:latin typeface="Canva Sans" charset="0"/>
                <a:ea typeface="Canva Sans Bold"/>
                <a:cs typeface="Canva Sans Bold"/>
                <a:sym typeface="Canva Sans Bold"/>
              </a:rPr>
              <a:t>50.48% male</a:t>
            </a:r>
            <a:r>
              <a:rPr lang="en-US" sz="1600" dirty="0" smtClean="0">
                <a:solidFill>
                  <a:srgbClr val="020202"/>
                </a:solidFill>
                <a:latin typeface="Canva Sans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1600" dirty="0">
                <a:solidFill>
                  <a:srgbClr val="020202"/>
                </a:solidFill>
                <a:latin typeface="Canva Sans" charset="0"/>
                <a:ea typeface="Canva Sans"/>
                <a:cs typeface="Canva Sans"/>
                <a:sym typeface="Canva Sans"/>
              </a:rPr>
              <a:t>and </a:t>
            </a:r>
            <a:r>
              <a:rPr lang="en-US" sz="1600" dirty="0">
                <a:solidFill>
                  <a:srgbClr val="E42328"/>
                </a:solidFill>
                <a:latin typeface="Canva Sans" charset="0"/>
                <a:ea typeface="Canva Sans Bold"/>
                <a:cs typeface="Canva Sans Bold"/>
                <a:sym typeface="Canva Sans Bold"/>
              </a:rPr>
              <a:t>49.52% female</a:t>
            </a:r>
            <a:r>
              <a:rPr lang="en-US" sz="1600" dirty="0">
                <a:solidFill>
                  <a:srgbClr val="020202"/>
                </a:solidFill>
                <a:latin typeface="Canva Sans" charset="0"/>
                <a:ea typeface="Canva Sans"/>
                <a:cs typeface="Canva Sans"/>
                <a:sym typeface="Canva Sans"/>
              </a:rPr>
              <a:t> customers.</a:t>
            </a:r>
            <a:endParaRPr lang="en-US" sz="1600" dirty="0">
              <a:solidFill>
                <a:srgbClr val="020202"/>
              </a:solidFill>
              <a:latin typeface="Canva Sans" charset="0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24200" y="1790684"/>
            <a:ext cx="8153400" cy="417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3396" lvl="1" indent="-226698">
              <a:lnSpc>
                <a:spcPts val="2940"/>
              </a:lnSpc>
              <a:buFont typeface="Arial"/>
              <a:buChar char="•"/>
            </a:pPr>
            <a:r>
              <a:rPr lang="en-US" sz="1600" dirty="0">
                <a:solidFill>
                  <a:srgbClr val="020202"/>
                </a:solidFill>
                <a:latin typeface="Canva Sans" charset="0"/>
                <a:ea typeface="Canva Sans"/>
                <a:cs typeface="Canva Sans"/>
                <a:sym typeface="Canva Sans"/>
              </a:rPr>
              <a:t>This means gender has minimal impact on customer churn in this dataset.</a:t>
            </a:r>
            <a:endParaRPr lang="en-US" sz="1600" dirty="0">
              <a:solidFill>
                <a:srgbClr val="020202"/>
              </a:solidFill>
              <a:latin typeface="Canva Sans" charset="0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76155" y="2556266"/>
            <a:ext cx="7848600" cy="464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3396" lvl="1" indent="-226698">
              <a:lnSpc>
                <a:spcPts val="2940"/>
              </a:lnSpc>
              <a:buFont typeface="Arial"/>
              <a:buChar char="•"/>
            </a:pPr>
            <a:r>
              <a:rPr lang="en-US" sz="1600" dirty="0">
                <a:solidFill>
                  <a:srgbClr val="020202"/>
                </a:solidFill>
                <a:latin typeface="Canva Sans"/>
                <a:ea typeface="Canva Sans"/>
                <a:cs typeface="Canva Sans"/>
                <a:sym typeface="Canva Sans"/>
              </a:rPr>
              <a:t>male and female customers face similar service experiences and challenges.</a:t>
            </a:r>
            <a:endParaRPr lang="en-US" sz="1600" dirty="0">
              <a:solidFill>
                <a:srgbClr val="02020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 rot="10800000" flipV="1">
            <a:off x="3960184" y="3785084"/>
            <a:ext cx="7951678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va Sans" charset="0"/>
                <a:cs typeface="Arial" charset="0"/>
              </a:rPr>
              <a:t>    There is a 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nva Sans" charset="0"/>
                <a:cs typeface="Arial" charset="0"/>
              </a:rPr>
              <a:t>significant number of customers with mid-range churn risk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dirty="0">
                <a:solidFill>
                  <a:schemeClr val="tx1"/>
                </a:solidFill>
                <a:latin typeface="Canva Sans" charset="0"/>
                <a:cs typeface="Arial" charset="0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latin typeface="Canva Sans" charset="0"/>
                <a:cs typeface="Arial" charset="0"/>
              </a:rPr>
              <a:t>    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va Sans" charset="0"/>
                <a:cs typeface="Arial" charset="0"/>
              </a:rPr>
              <a:t>(bins around</a:t>
            </a:r>
            <a:r>
              <a:rPr kumimoji="0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nva Sans" charset="0"/>
                <a:cs typeface="Arial" charset="0"/>
              </a:rPr>
              <a:t>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va Sans" charset="0"/>
                <a:cs typeface="Arial" charset="0"/>
              </a:rPr>
              <a:t>0.4–0.7 seem high).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10861" y="4495800"/>
            <a:ext cx="73420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dirty="0" smtClean="0">
                <a:solidFill>
                  <a:schemeClr val="tx1"/>
                </a:solidFill>
                <a:latin typeface="Canva Sans" charset="0"/>
                <a:cs typeface="Arial" charset="0"/>
              </a:rPr>
              <a:t>     </a:t>
            </a:r>
            <a:r>
              <a:rPr lang="en-US" sz="1600" dirty="0" smtClean="0">
                <a:latin typeface="Canva Sans" charset="0"/>
              </a:rPr>
              <a:t>There </a:t>
            </a:r>
            <a:r>
              <a:rPr lang="en-US" sz="1600" dirty="0">
                <a:latin typeface="Canva Sans" charset="0"/>
              </a:rPr>
              <a:t>are </a:t>
            </a:r>
            <a:r>
              <a:rPr lang="en-US" sz="1600" dirty="0">
                <a:solidFill>
                  <a:srgbClr val="FF0000"/>
                </a:solidFill>
                <a:latin typeface="Canva Sans" charset="0"/>
              </a:rPr>
              <a:t>fewer customers at the extremes </a:t>
            </a:r>
            <a:r>
              <a:rPr lang="en-US" sz="1600" dirty="0">
                <a:latin typeface="Canva Sans" charset="0"/>
              </a:rPr>
              <a:t>(very low risk </a:t>
            </a:r>
            <a:r>
              <a:rPr lang="en-US" sz="1600" dirty="0" smtClean="0">
                <a:latin typeface="Canva Sans" charset="0"/>
              </a:rPr>
              <a:t>near </a:t>
            </a:r>
            <a:r>
              <a:rPr lang="en-US" sz="1600" dirty="0">
                <a:latin typeface="Canva Sans" charset="0"/>
              </a:rPr>
              <a:t>0.0 </a:t>
            </a:r>
            <a:r>
              <a:rPr lang="en-US" sz="1600" dirty="0" smtClean="0">
                <a:latin typeface="Canva Sans" charset="0"/>
              </a:rPr>
              <a:t>and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 smtClean="0">
                <a:latin typeface="Canva Sans" charset="0"/>
              </a:rPr>
              <a:t>      very </a:t>
            </a:r>
            <a:r>
              <a:rPr lang="en-US" sz="1600" dirty="0">
                <a:latin typeface="Canva Sans" charset="0"/>
              </a:rPr>
              <a:t>high </a:t>
            </a:r>
            <a:r>
              <a:rPr lang="en-US" sz="1600" dirty="0" smtClean="0">
                <a:latin typeface="Canva Sans" charset="0"/>
              </a:rPr>
              <a:t>risk near </a:t>
            </a:r>
            <a:r>
              <a:rPr lang="en-US" sz="1600" dirty="0">
                <a:latin typeface="Canva Sans" charset="0"/>
              </a:rPr>
              <a:t>1.0)  </a:t>
            </a:r>
            <a:r>
              <a:rPr lang="en-US" sz="1600" dirty="0" smtClean="0">
                <a:latin typeface="Canva Sans" charset="0"/>
              </a:rPr>
              <a:t>though </a:t>
            </a:r>
            <a:r>
              <a:rPr lang="en-US" sz="1600" dirty="0">
                <a:latin typeface="Canva Sans" charset="0"/>
              </a:rPr>
              <a:t>there </a:t>
            </a:r>
            <a:r>
              <a:rPr lang="en-US" sz="1600" i="1" dirty="0">
                <a:latin typeface="Canva Sans" charset="0"/>
              </a:rPr>
              <a:t>are</a:t>
            </a:r>
            <a:r>
              <a:rPr lang="en-US" sz="1600" dirty="0">
                <a:latin typeface="Canva Sans" charset="0"/>
              </a:rPr>
              <a:t> </a:t>
            </a:r>
            <a:r>
              <a:rPr lang="en-US" sz="1600" dirty="0" smtClean="0">
                <a:latin typeface="Canva Sans" charset="0"/>
              </a:rPr>
              <a:t>some at </a:t>
            </a:r>
            <a:r>
              <a:rPr lang="en-US" sz="1600" dirty="0">
                <a:latin typeface="Canva Sans" charset="0"/>
              </a:rPr>
              <a:t>high risk (</a:t>
            </a:r>
            <a:r>
              <a:rPr lang="en-US" sz="1600" dirty="0" smtClean="0">
                <a:latin typeface="Canva Sans" charset="0"/>
              </a:rPr>
              <a:t>the bin </a:t>
            </a:r>
            <a:r>
              <a:rPr lang="en-US" sz="1600" dirty="0">
                <a:latin typeface="Canva Sans" charset="0"/>
              </a:rPr>
              <a:t>at </a:t>
            </a:r>
            <a:r>
              <a:rPr lang="en-US" sz="1600" dirty="0" smtClean="0">
                <a:latin typeface="Canva Sans" charset="0"/>
              </a:rPr>
              <a:t>1 has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>
                <a:latin typeface="Canva Sans" charset="0"/>
              </a:rPr>
              <a:t> </a:t>
            </a:r>
            <a:r>
              <a:rPr lang="en-US" sz="1600" dirty="0" smtClean="0">
                <a:latin typeface="Canva Sans" charset="0"/>
              </a:rPr>
              <a:t>     a non-zero count, though it's the </a:t>
            </a:r>
            <a:r>
              <a:rPr lang="en-US" sz="1600" dirty="0">
                <a:latin typeface="Canva Sans" charset="0"/>
              </a:rPr>
              <a:t>lowest in your sample).</a:t>
            </a:r>
            <a:endParaRPr lang="en-US" sz="1600" dirty="0">
              <a:solidFill>
                <a:srgbClr val="FF0000"/>
              </a:solidFill>
              <a:latin typeface="Canva Sans" charset="0"/>
              <a:cs typeface="Arial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 rot="10800000" flipV="1">
            <a:off x="3910861" y="5457314"/>
            <a:ext cx="922020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 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va Sans" charset="0"/>
                <a:cs typeface="Arial" charset="0"/>
              </a:rPr>
              <a:t>The distribution doesn’t look strongly skewed to the “safe” side; instead, it seems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va Sans" charset="0"/>
                <a:cs typeface="Arial" charset="0"/>
              </a:rPr>
              <a:t>       more concentrated in the 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nva Sans" charset="0"/>
                <a:cs typeface="Arial" charset="0"/>
              </a:rPr>
              <a:t>medium-risk range.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9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52400"/>
            <a:ext cx="309732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Key Visuals: 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09" y="4012939"/>
            <a:ext cx="3325091" cy="26164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56908" y="921841"/>
            <a:ext cx="6449291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dirty="0">
                <a:solidFill>
                  <a:schemeClr val="tx1"/>
                </a:solidFill>
                <a:latin typeface="Canva Sans" charset="0"/>
                <a:cs typeface="Arial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Canva Sans" charset="0"/>
                <a:cs typeface="Arial" charset="0"/>
              </a:rPr>
              <a:t> </a:t>
            </a:r>
            <a:r>
              <a:rPr lang="en-US" sz="1600" b="1" dirty="0" smtClean="0">
                <a:solidFill>
                  <a:srgbClr val="FF0000"/>
                </a:solidFill>
                <a:latin typeface="Canva Sans" charset="0"/>
              </a:rPr>
              <a:t>Electronic </a:t>
            </a:r>
            <a:r>
              <a:rPr lang="en-US" sz="1600" b="1" dirty="0">
                <a:solidFill>
                  <a:srgbClr val="FF0000"/>
                </a:solidFill>
                <a:latin typeface="Canva Sans" charset="0"/>
              </a:rPr>
              <a:t>and Mailed Checks Have Higher Churn:</a:t>
            </a:r>
            <a:r>
              <a:rPr lang="en-US" sz="1600" dirty="0">
                <a:solidFill>
                  <a:srgbClr val="FF0000"/>
                </a:solidFill>
                <a:latin typeface="Canva Sans" charset="0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anva Sans" charset="0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>
                <a:solidFill>
                  <a:srgbClr val="FF0000"/>
                </a:solidFill>
                <a:latin typeface="Canva Sans" charset="0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anva Sans" charset="0"/>
              </a:rPr>
              <a:t>  </a:t>
            </a:r>
            <a:r>
              <a:rPr lang="en-US" sz="1600" dirty="0" smtClean="0">
                <a:latin typeface="Canva Sans" charset="0"/>
              </a:rPr>
              <a:t>Customers </a:t>
            </a:r>
            <a:r>
              <a:rPr lang="en-US" sz="1600" dirty="0">
                <a:latin typeface="Canva Sans" charset="0"/>
              </a:rPr>
              <a:t>paying </a:t>
            </a:r>
            <a:r>
              <a:rPr lang="en-US" sz="1600" dirty="0" smtClean="0">
                <a:latin typeface="Canva Sans" charset="0"/>
              </a:rPr>
              <a:t>by </a:t>
            </a:r>
            <a:r>
              <a:rPr lang="en-US" sz="1600" dirty="0">
                <a:latin typeface="Canva Sans" charset="0"/>
              </a:rPr>
              <a:t>electronic check and mailed check </a:t>
            </a:r>
            <a:r>
              <a:rPr lang="en-US" sz="1600" dirty="0" smtClean="0">
                <a:latin typeface="Canva Sans" charset="0"/>
              </a:rPr>
              <a:t>show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 smtClean="0">
                <a:latin typeface="Canva Sans" charset="0"/>
              </a:rPr>
              <a:t>   noticeably </a:t>
            </a:r>
            <a:r>
              <a:rPr lang="en-US" sz="1600" dirty="0">
                <a:latin typeface="Canva Sans" charset="0"/>
              </a:rPr>
              <a:t>higher churn </a:t>
            </a:r>
            <a:r>
              <a:rPr lang="en-US" sz="1600" dirty="0" smtClean="0">
                <a:latin typeface="Canva Sans" charset="0"/>
              </a:rPr>
              <a:t>rates compared </a:t>
            </a:r>
            <a:r>
              <a:rPr lang="en-US" sz="1600" dirty="0">
                <a:latin typeface="Canva Sans" charset="0"/>
              </a:rPr>
              <a:t>to other methods.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dirty="0">
              <a:solidFill>
                <a:srgbClr val="FF0000"/>
              </a:solidFill>
              <a:latin typeface="Canva Sans" charset="0"/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56908" y="1828800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dirty="0">
                <a:solidFill>
                  <a:schemeClr val="tx1"/>
                </a:solidFill>
                <a:latin typeface="Canva Sans" charset="0"/>
                <a:cs typeface="Arial" charset="0"/>
              </a:rPr>
              <a:t> </a:t>
            </a:r>
            <a:endParaRPr lang="en-US" dirty="0">
              <a:solidFill>
                <a:srgbClr val="FF0000"/>
              </a:solidFill>
              <a:latin typeface="Canva Sans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56908" y="1828800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 </a:t>
            </a:r>
            <a:r>
              <a:rPr lang="en-US" b="1" dirty="0" smtClean="0"/>
              <a:t>  </a:t>
            </a:r>
            <a:r>
              <a:rPr lang="en-US" sz="1600" b="1" dirty="0" smtClean="0">
                <a:solidFill>
                  <a:srgbClr val="FF0000"/>
                </a:solidFill>
                <a:latin typeface="Canva Sans" charset="0"/>
              </a:rPr>
              <a:t>Bank </a:t>
            </a:r>
            <a:r>
              <a:rPr lang="en-US" sz="1600" b="1" dirty="0">
                <a:solidFill>
                  <a:srgbClr val="FF0000"/>
                </a:solidFill>
                <a:latin typeface="Canva Sans" charset="0"/>
              </a:rPr>
              <a:t>Transfers &amp; Credit Cards Retain Better:</a:t>
            </a:r>
            <a:r>
              <a:rPr lang="en-US" sz="1600" dirty="0">
                <a:solidFill>
                  <a:srgbClr val="FF0000"/>
                </a:solidFill>
                <a:latin typeface="Canva Sans" charset="0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anva Sans" charset="0"/>
              </a:rPr>
              <a:t> </a:t>
            </a:r>
          </a:p>
          <a:p>
            <a:r>
              <a:rPr lang="en-US" sz="1600" dirty="0">
                <a:latin typeface="Canva Sans" charset="0"/>
              </a:rPr>
              <a:t> </a:t>
            </a:r>
            <a:r>
              <a:rPr lang="en-US" sz="1600" dirty="0" smtClean="0">
                <a:latin typeface="Canva Sans" charset="0"/>
              </a:rPr>
              <a:t>  Customers using </a:t>
            </a:r>
            <a:r>
              <a:rPr lang="en-US" sz="1600" dirty="0">
                <a:latin typeface="Canva Sans" charset="0"/>
              </a:rPr>
              <a:t>bank </a:t>
            </a:r>
            <a:r>
              <a:rPr lang="en-US" sz="1600" dirty="0" smtClean="0">
                <a:latin typeface="Canva Sans" charset="0"/>
              </a:rPr>
              <a:t>transfer </a:t>
            </a:r>
            <a:r>
              <a:rPr lang="en-US" sz="1600" dirty="0">
                <a:latin typeface="Canva Sans" charset="0"/>
              </a:rPr>
              <a:t>or credit card (automatic) have </a:t>
            </a:r>
            <a:endParaRPr lang="en-US" sz="1600" dirty="0" smtClean="0">
              <a:latin typeface="Canva Sans" charset="0"/>
            </a:endParaRPr>
          </a:p>
          <a:p>
            <a:r>
              <a:rPr lang="en-US" sz="1600" dirty="0">
                <a:latin typeface="Canva Sans" charset="0"/>
              </a:rPr>
              <a:t> </a:t>
            </a:r>
            <a:r>
              <a:rPr lang="en-US" sz="1600" dirty="0" smtClean="0">
                <a:latin typeface="Canva Sans" charset="0"/>
              </a:rPr>
              <a:t>  lower </a:t>
            </a:r>
            <a:r>
              <a:rPr lang="en-US" sz="1600" dirty="0">
                <a:latin typeface="Canva Sans" charset="0"/>
              </a:rPr>
              <a:t>churn, indicating </a:t>
            </a:r>
            <a:r>
              <a:rPr lang="en-US" sz="1600" dirty="0" smtClean="0">
                <a:latin typeface="Canva Sans" charset="0"/>
              </a:rPr>
              <a:t>more stable </a:t>
            </a:r>
            <a:r>
              <a:rPr lang="en-US" sz="1600" dirty="0">
                <a:latin typeface="Canva Sans" charset="0"/>
              </a:rPr>
              <a:t>payment behavior.</a:t>
            </a:r>
            <a:endParaRPr lang="en-US" sz="1600" dirty="0">
              <a:latin typeface="Canva Sans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53000" y="2792113"/>
            <a:ext cx="6096000" cy="8002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b="1" dirty="0" smtClean="0">
                <a:solidFill>
                  <a:srgbClr val="FF0000"/>
                </a:solidFill>
                <a:latin typeface="Canva Sans" charset="0"/>
              </a:rPr>
              <a:t>Actionable </a:t>
            </a:r>
            <a:r>
              <a:rPr lang="en-US" sz="1600" b="1" dirty="0">
                <a:solidFill>
                  <a:srgbClr val="FF0000"/>
                </a:solidFill>
                <a:latin typeface="Canva Sans" charset="0"/>
              </a:rPr>
              <a:t>Opportunity:</a:t>
            </a:r>
            <a:r>
              <a:rPr lang="en-US" sz="1600" dirty="0">
                <a:solidFill>
                  <a:srgbClr val="FF0000"/>
                </a:solidFill>
                <a:latin typeface="Canva Sans" charset="0"/>
              </a:rPr>
              <a:t> </a:t>
            </a:r>
            <a:r>
              <a:rPr lang="en-US" sz="1600" dirty="0">
                <a:latin typeface="Canva Sans" charset="0"/>
              </a:rPr>
              <a:t>Encouraging customers to switch to </a:t>
            </a:r>
            <a:r>
              <a:rPr lang="en-US" sz="1600" dirty="0" smtClean="0">
                <a:latin typeface="Canva Sans" charset="0"/>
              </a:rPr>
              <a:t>automatic/online </a:t>
            </a:r>
            <a:r>
              <a:rPr lang="en-US" sz="1600" dirty="0">
                <a:latin typeface="Canva Sans" charset="0"/>
              </a:rPr>
              <a:t>payments could help </a:t>
            </a:r>
            <a:r>
              <a:rPr lang="en-US" sz="1600" dirty="0">
                <a:solidFill>
                  <a:srgbClr val="FF0000"/>
                </a:solidFill>
                <a:latin typeface="Canva Sans" charset="0"/>
              </a:rPr>
              <a:t>reduce overall churn.</a:t>
            </a:r>
          </a:p>
          <a:p>
            <a:endParaRPr lang="en-US" dirty="0">
              <a:solidFill>
                <a:srgbClr val="FF0000"/>
              </a:solidFill>
              <a:latin typeface="Canva Sans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81400" y="4012939"/>
            <a:ext cx="732129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10218" lvl="1" indent="-205109">
              <a:lnSpc>
                <a:spcPts val="2660"/>
              </a:lnSpc>
              <a:buFont typeface="Arial"/>
              <a:buChar char="•"/>
            </a:pPr>
            <a:r>
              <a:rPr lang="en-US" sz="1600" dirty="0">
                <a:solidFill>
                  <a:srgbClr val="E42328"/>
                </a:solidFill>
                <a:latin typeface="Canva Sans" charset="0"/>
                <a:ea typeface="Canva Sans Bold"/>
                <a:cs typeface="Canva Sans Bold"/>
                <a:sym typeface="Canva Sans Bold"/>
              </a:rPr>
              <a:t>Fiber Optic </a:t>
            </a:r>
            <a:r>
              <a:rPr lang="en-US" sz="1600" dirty="0">
                <a:solidFill>
                  <a:srgbClr val="020202"/>
                </a:solidFill>
                <a:latin typeface="Canva Sans" charset="0"/>
                <a:ea typeface="Canva Sans"/>
                <a:cs typeface="Canva Sans"/>
                <a:sym typeface="Canva Sans"/>
              </a:rPr>
              <a:t>is the most used service with </a:t>
            </a:r>
            <a:r>
              <a:rPr lang="en-US" sz="1600" dirty="0">
                <a:solidFill>
                  <a:srgbClr val="E42328"/>
                </a:solidFill>
                <a:latin typeface="Canva Sans" charset="0"/>
                <a:ea typeface="Canva Sans Bold"/>
                <a:cs typeface="Canva Sans Bold"/>
                <a:sym typeface="Canva Sans Bold"/>
              </a:rPr>
              <a:t>3.1K customers</a:t>
            </a:r>
            <a:r>
              <a:rPr lang="en-US" sz="1600" dirty="0">
                <a:solidFill>
                  <a:srgbClr val="020202"/>
                </a:solidFill>
                <a:latin typeface="Canva Sans" charset="0"/>
                <a:ea typeface="Canva Sans"/>
                <a:cs typeface="Canva Sans"/>
                <a:sym typeface="Canva Sans"/>
              </a:rPr>
              <a:t>, indicating high demand or availability.</a:t>
            </a:r>
            <a:endParaRPr lang="en-US" sz="1600" dirty="0">
              <a:solidFill>
                <a:srgbClr val="020202"/>
              </a:solidFill>
              <a:latin typeface="Canva Sans" charset="0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81400" y="4797769"/>
            <a:ext cx="70866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10218" lvl="1" indent="-205109">
              <a:lnSpc>
                <a:spcPts val="2660"/>
              </a:lnSpc>
              <a:buFont typeface="Arial"/>
              <a:buChar char="•"/>
            </a:pPr>
            <a:r>
              <a:rPr lang="en-US" sz="1600" dirty="0">
                <a:solidFill>
                  <a:srgbClr val="E42328"/>
                </a:solidFill>
                <a:latin typeface="Canva Sans" charset="0"/>
                <a:ea typeface="Canva Sans Bold"/>
                <a:cs typeface="Canva Sans Bold"/>
                <a:sym typeface="Canva Sans Bold"/>
              </a:rPr>
              <a:t>DSL</a:t>
            </a:r>
            <a:r>
              <a:rPr lang="en-US" sz="1600" dirty="0">
                <a:solidFill>
                  <a:srgbClr val="020202"/>
                </a:solidFill>
                <a:latin typeface="Canva Sans" charset="0"/>
                <a:ea typeface="Canva Sans"/>
                <a:cs typeface="Canva Sans"/>
                <a:sym typeface="Canva Sans"/>
              </a:rPr>
              <a:t> serves </a:t>
            </a:r>
            <a:r>
              <a:rPr lang="en-US" sz="1600" dirty="0">
                <a:solidFill>
                  <a:srgbClr val="E42328"/>
                </a:solidFill>
                <a:latin typeface="Canva Sans" charset="0"/>
                <a:ea typeface="Canva Sans Bold"/>
                <a:cs typeface="Canva Sans Bold"/>
                <a:sym typeface="Canva Sans Bold"/>
              </a:rPr>
              <a:t>2.4K</a:t>
            </a:r>
            <a:r>
              <a:rPr lang="en-US" sz="1600" dirty="0">
                <a:solidFill>
                  <a:srgbClr val="020202"/>
                </a:solidFill>
                <a:latin typeface="Canva Sans" charset="0"/>
                <a:ea typeface="Canva Sans"/>
                <a:cs typeface="Canva Sans"/>
                <a:sym typeface="Canva Sans"/>
              </a:rPr>
              <a:t> customers, showing moderate adoption compared to Fiber Optic.</a:t>
            </a:r>
            <a:endParaRPr lang="en-US" sz="1600" dirty="0">
              <a:solidFill>
                <a:srgbClr val="020202"/>
              </a:solidFill>
              <a:latin typeface="Canva Sans" charset="0"/>
              <a:ea typeface="Canva Sans"/>
              <a:cs typeface="Canva Sans"/>
              <a:sym typeface="Canva S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581400" y="5572199"/>
            <a:ext cx="7321296" cy="744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10218" lvl="1" indent="-205109">
              <a:lnSpc>
                <a:spcPts val="2660"/>
              </a:lnSpc>
              <a:buFont typeface="Arial"/>
              <a:buChar char="•"/>
            </a:pPr>
            <a:r>
              <a:rPr lang="en-US" sz="1600" dirty="0">
                <a:solidFill>
                  <a:srgbClr val="E42328"/>
                </a:solidFill>
                <a:latin typeface="Canva Sans" charset="0"/>
                <a:ea typeface="Canva Sans Bold"/>
                <a:cs typeface="Canva Sans Bold"/>
                <a:sym typeface="Canva Sans Bold"/>
              </a:rPr>
              <a:t>1.5K</a:t>
            </a:r>
            <a:r>
              <a:rPr lang="en-US" sz="1600" dirty="0">
                <a:solidFill>
                  <a:srgbClr val="020202"/>
                </a:solidFill>
                <a:latin typeface="Canva Sans" charset="0"/>
                <a:ea typeface="Canva Sans"/>
                <a:cs typeface="Canva Sans"/>
                <a:sym typeface="Canva Sans"/>
              </a:rPr>
              <a:t> customers have </a:t>
            </a:r>
            <a:r>
              <a:rPr lang="en-US" sz="1600" dirty="0">
                <a:solidFill>
                  <a:srgbClr val="E42328"/>
                </a:solidFill>
                <a:latin typeface="Canva Sans" charset="0"/>
                <a:ea typeface="Canva Sans Bold"/>
                <a:cs typeface="Canva Sans Bold"/>
                <a:sym typeface="Canva Sans Bold"/>
              </a:rPr>
              <a:t>no internet service</a:t>
            </a:r>
            <a:r>
              <a:rPr lang="en-US" sz="1600" dirty="0">
                <a:solidFill>
                  <a:srgbClr val="020202"/>
                </a:solidFill>
                <a:latin typeface="Canva Sans" charset="0"/>
                <a:ea typeface="Canva Sans"/>
                <a:cs typeface="Canva Sans"/>
                <a:sym typeface="Canva Sans"/>
              </a:rPr>
              <a:t>, representing a potential </a:t>
            </a:r>
            <a:r>
              <a:rPr lang="en-US" sz="1600" dirty="0">
                <a:solidFill>
                  <a:srgbClr val="E42328"/>
                </a:solidFill>
                <a:latin typeface="Canva Sans" charset="0"/>
                <a:ea typeface="Canva Sans Bold"/>
                <a:cs typeface="Canva Sans Bold"/>
                <a:sym typeface="Canva Sans Bold"/>
              </a:rPr>
              <a:t>upsell opportunity.</a:t>
            </a:r>
            <a:endParaRPr lang="en-US" sz="1600" dirty="0">
              <a:solidFill>
                <a:srgbClr val="E42328"/>
              </a:solidFill>
              <a:latin typeface="Canva Sans" charset="0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08" y="838201"/>
            <a:ext cx="4468091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14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800" y="228600"/>
            <a:ext cx="309732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Key Visuals: 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143000"/>
            <a:ext cx="3810000" cy="2362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114800"/>
            <a:ext cx="3810000" cy="2438400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114800" y="1139893"/>
            <a:ext cx="65532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</a:t>
            </a:r>
            <a:r>
              <a:rPr kumimoji="0" lang="en-US" sz="1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nva Sans" charset="0"/>
                <a:cs typeface="Arial" charset="0"/>
              </a:rPr>
              <a:t>Monthly charges tend to increase as customer tenure  </a:t>
            </a:r>
            <a:r>
              <a:rPr kumimoji="0" lang="en-US" sz="1600" i="0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Canva Sans" charset="0"/>
                <a:cs typeface="Arial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nva Sans" charset="0"/>
                <a:cs typeface="Arial" charset="0"/>
              </a:rPr>
              <a:t>     increases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va Sans" charset="0"/>
                <a:cs typeface="Arial" charset="0"/>
              </a:rPr>
              <a:t>.</a:t>
            </a:r>
            <a:r>
              <a:rPr lang="en-US" sz="1600" dirty="0">
                <a:solidFill>
                  <a:schemeClr val="tx1"/>
                </a:solidFill>
                <a:latin typeface="Canva Sans" charset="0"/>
                <a:cs typeface="Arial" charset="0"/>
              </a:rPr>
              <a:t>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va Sans" charset="0"/>
                <a:cs typeface="Arial" charset="0"/>
              </a:rPr>
              <a:t>Early in the customer lifecycle (low tenure), average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dirty="0">
                <a:solidFill>
                  <a:schemeClr val="tx1"/>
                </a:solidFill>
                <a:latin typeface="Canva Sans" charset="0"/>
                <a:cs typeface="Arial" charset="0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latin typeface="Canva Sans" charset="0"/>
                <a:cs typeface="Arial" charset="0"/>
              </a:rPr>
              <a:t>   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va Sans" charset="0"/>
                <a:cs typeface="Arial" charset="0"/>
              </a:rPr>
              <a:t>charges are lower (around ~41). As tenure grows, the average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dirty="0">
                <a:solidFill>
                  <a:schemeClr val="tx1"/>
                </a:solidFill>
                <a:latin typeface="Canva Sans" charset="0"/>
                <a:cs typeface="Arial" charset="0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latin typeface="Canva Sans" charset="0"/>
                <a:cs typeface="Arial" charset="0"/>
              </a:rPr>
              <a:t>   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va Sans" charset="0"/>
                <a:cs typeface="Arial" charset="0"/>
              </a:rPr>
              <a:t>monthly charges generally rise and fluctuate around higher values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dirty="0">
                <a:solidFill>
                  <a:schemeClr val="tx1"/>
                </a:solidFill>
                <a:latin typeface="Canva Sans" charset="0"/>
                <a:cs typeface="Arial" charset="0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latin typeface="Canva Sans" charset="0"/>
                <a:cs typeface="Arial" charset="0"/>
              </a:rPr>
              <a:t>   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va Sans" charset="0"/>
                <a:cs typeface="Arial" charset="0"/>
              </a:rPr>
              <a:t>(60s–70s), reaching around ~80 by high tenure.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114800" y="2612648"/>
            <a:ext cx="800100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 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nva Sans" charset="0"/>
                <a:cs typeface="Arial" charset="0"/>
              </a:rPr>
              <a:t>There is a positive upward trend overall.</a:t>
            </a:r>
            <a:r>
              <a:rPr lang="en-US" sz="1600" dirty="0">
                <a:solidFill>
                  <a:schemeClr val="tx1"/>
                </a:solidFill>
                <a:latin typeface="Canva Sans" charset="0"/>
                <a:cs typeface="Arial" charset="0"/>
              </a:rPr>
              <a:t>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va Sans" charset="0"/>
                <a:cs typeface="Arial" charset="0"/>
              </a:rPr>
              <a:t>This suggests that 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nva Sans" charset="0"/>
                <a:cs typeface="Arial" charset="0"/>
              </a:rPr>
              <a:t>longer-tenured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dirty="0">
                <a:solidFill>
                  <a:srgbClr val="FF0000"/>
                </a:solidFill>
                <a:latin typeface="Canva Sans" charset="0"/>
                <a:cs typeface="Arial" charset="0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anva Sans" charset="0"/>
                <a:cs typeface="Arial" charset="0"/>
              </a:rPr>
              <a:t> 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nva Sans" charset="0"/>
                <a:cs typeface="Arial" charset="0"/>
              </a:rPr>
              <a:t>   customers are paying more on average each month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va Sans" charset="0"/>
                <a:cs typeface="Arial" charset="0"/>
              </a:rPr>
              <a:t> than newer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0" y="4121498"/>
            <a:ext cx="70104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dirty="0">
                <a:latin typeface="Canva Sans" charset="0"/>
              </a:rPr>
              <a:t>Customers with low tenure and high monthly charges are more likely to </a:t>
            </a:r>
            <a:r>
              <a:rPr lang="en-US" sz="1600" dirty="0" smtClean="0">
                <a:latin typeface="Canva Sans" charset="0"/>
              </a:rPr>
              <a:t>churn.</a:t>
            </a:r>
          </a:p>
          <a:p>
            <a:endParaRPr lang="en-US" sz="1600" dirty="0">
              <a:latin typeface="Canva Sans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>
                <a:latin typeface="Canva Sans" charset="0"/>
              </a:rPr>
              <a:t>Points representing churned customers (often shown in a different color) cluster </a:t>
            </a:r>
            <a:r>
              <a:rPr lang="en-US" sz="1600" dirty="0">
                <a:solidFill>
                  <a:srgbClr val="FF0000"/>
                </a:solidFill>
                <a:latin typeface="Canva Sans" charset="0"/>
              </a:rPr>
              <a:t>toward lower total monthly charges and shorter </a:t>
            </a:r>
            <a:r>
              <a:rPr lang="en-US" sz="1600" dirty="0" smtClean="0">
                <a:solidFill>
                  <a:srgbClr val="FF0000"/>
                </a:solidFill>
                <a:latin typeface="Canva Sans" charset="0"/>
              </a:rPr>
              <a:t>tenure </a:t>
            </a:r>
            <a:r>
              <a:rPr lang="en-US" sz="1600" dirty="0" smtClean="0">
                <a:latin typeface="Canva Sans" charset="0"/>
              </a:rPr>
              <a:t>meaning </a:t>
            </a:r>
            <a:r>
              <a:rPr lang="en-US" sz="1600" dirty="0">
                <a:latin typeface="Canva Sans" charset="0"/>
              </a:rPr>
              <a:t>they haven’t been with you long but are paying relatively high monthly charges.</a:t>
            </a:r>
          </a:p>
        </p:txBody>
      </p:sp>
    </p:spTree>
    <p:extLst>
      <p:ext uri="{BB962C8B-B14F-4D97-AF65-F5344CB8AC3E}">
        <p14:creationId xmlns:p14="http://schemas.microsoft.com/office/powerpoint/2010/main" val="1496160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52400" y="152400"/>
            <a:ext cx="10134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Canva Sans" charset="0"/>
                <a:cs typeface="Arial" pitchFamily="34" charset="0"/>
              </a:rPr>
              <a:t>DASHBOARD</a:t>
            </a:r>
            <a:endParaRPr lang="en-US" sz="3600" b="1" dirty="0">
              <a:solidFill>
                <a:srgbClr val="FF0000"/>
              </a:solidFill>
              <a:latin typeface="Canva Sans" charset="0"/>
              <a:cs typeface="Arial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798731"/>
            <a:ext cx="11049000" cy="544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64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8600" y="381000"/>
            <a:ext cx="1847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2000" b="1" dirty="0">
              <a:solidFill>
                <a:srgbClr val="FF0000"/>
              </a:solidFill>
              <a:latin typeface="+mn-lt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8600" y="5334000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>
              <a:latin typeface="Corbe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3331" y="333998"/>
            <a:ext cx="54540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+mn-lt"/>
                <a:cs typeface="Arial" pitchFamily="34" charset="0"/>
              </a:rPr>
              <a:t>Link to The Dashboard</a:t>
            </a:r>
            <a:endParaRPr lang="en-US" sz="3200" b="1" dirty="0">
              <a:solidFill>
                <a:srgbClr val="FF0000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10000" y="2678668"/>
            <a:ext cx="3048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dirty="0">
                <a:solidFill>
                  <a:srgbClr val="92D050"/>
                </a:solidFill>
                <a:hlinkClick r:id="rId2"/>
              </a:rPr>
              <a:t>Telecom Customers Churn Analysis - Churn Customer Project1 - Power BI</a:t>
            </a: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209800" y="2362200"/>
            <a:ext cx="6248400" cy="13716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272145" y="2894111"/>
            <a:ext cx="6106159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2"/>
              </a:rPr>
              <a:t>Telecom Customers Churn Analysis - Churn Customer Project1 - Power BI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93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9067" y="134789"/>
            <a:ext cx="301717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Conclusion</a:t>
            </a:r>
            <a:r>
              <a:rPr lang="en-IN" sz="4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: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 rot="10800000" flipV="1">
            <a:off x="289066" y="1008993"/>
            <a:ext cx="1144573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cs typeface="Arial" charset="0"/>
              </a:rPr>
              <a:t>Churn is significantly impacting revenue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27% churn rate has already contributed to nearly 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cs typeface="Arial" charset="0"/>
              </a:rPr>
              <a:t>$2.86M in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cs typeface="Arial" charset="0"/>
              </a:rPr>
              <a:t>   lost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89067" y="1752600"/>
            <a:ext cx="1170275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 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cs typeface="Arial" charset="0"/>
              </a:rPr>
              <a:t>High churn risk clusters in specific segments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— especially among 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cs typeface="Arial" charset="0"/>
              </a:rPr>
              <a:t>newer customers with high monthly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  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cs typeface="Arial" charset="0"/>
              </a:rPr>
              <a:t> charges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and those using 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cs typeface="Arial" charset="0"/>
              </a:rPr>
              <a:t>electronic or mailed checks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as payment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89066" y="2638831"/>
            <a:ext cx="1144573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 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cs typeface="Arial" charset="0"/>
              </a:rPr>
              <a:t>Customers on automatic payments (credit card/bank transfer)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and 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longer-tenured customers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show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   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better retention and higher lifetime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89067" y="3562161"/>
            <a:ext cx="115062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  </a:t>
            </a: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cs typeface="Arial" charset="0"/>
              </a:rPr>
              <a:t>Longer tenure correlates with higher average monthly charges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indicating that customers who stay longer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dirty="0">
                <a:solidFill>
                  <a:schemeClr val="tx1"/>
                </a:solidFill>
                <a:latin typeface="Arial" charset="0"/>
                <a:cs typeface="Arial" charset="0"/>
              </a:rPr>
              <a:t>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  spend more — underscoring the value of retention.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5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2218</TotalTime>
  <Words>705</Words>
  <Application>Microsoft Office PowerPoint</Application>
  <PresentationFormat>Custom</PresentationFormat>
  <Paragraphs>68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Bodoni MT</vt:lpstr>
      <vt:lpstr>Libre Baskerville</vt:lpstr>
      <vt:lpstr>Bebas Neue Cyrillic</vt:lpstr>
      <vt:lpstr>Calibri</vt:lpstr>
      <vt:lpstr>Canva Sans</vt:lpstr>
      <vt:lpstr>Canva Sans Bold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DELL</cp:lastModifiedBy>
  <cp:revision>85</cp:revision>
  <dcterms:created xsi:type="dcterms:W3CDTF">2021-02-16T05:19:01Z</dcterms:created>
  <dcterms:modified xsi:type="dcterms:W3CDTF">2025-12-11T19:09:35Z</dcterms:modified>
</cp:coreProperties>
</file>